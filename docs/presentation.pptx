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12A400-85F5-4BE6-8396-EB84EEEC0291}">
  <a:tblStyle styleId="{F612A400-85F5-4BE6-8396-EB84EEEC029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b9789db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타당성을 좀더 넣을 것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예를 들어 드론 제어는 통신이 중요한데 AI 모델을 사용하기 위해 정해진 통신망을 사용하면 데이터 병목이 우려되기에 온디바이스를 선택함 이라는 등의 이유를 추가할 것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일례로 드론의 통신을 강조하기 위해 우크라이나와 러시아 전쟁에서 광케이블이 활용되는 시각자료 같은거 첨부</a:t>
            </a:r>
            <a:endParaRPr/>
          </a:p>
        </p:txBody>
      </p:sp>
      <p:sp>
        <p:nvSpPr>
          <p:cNvPr id="137" name="Google Shape;137;g3fab9789db4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타당성을 좀더 넣을 것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예를 들어 드론 제어는 통신이 중요한데 AI 모델을 사용하기 위해 정해진 통신망을 사용하면 데이터 병목이 우려되기에 온디바이스를 선택함 이라는 등의 이유를 추가할 것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일례로 드론의 통신을 강조하기 위해 우크라이나와 러시아 전쟁에서 광케이블이 활용되는 시각자료 같은거 첨부</a:t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c882734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가독성 있게 블록으로 화살표 이동으로 디자인 좀 바꿔줄것</a:t>
            </a:r>
            <a:endParaRPr/>
          </a:p>
        </p:txBody>
      </p:sp>
      <p:sp>
        <p:nvSpPr>
          <p:cNvPr id="214" name="Google Shape;214;g3fac882734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c88273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이것도 디자인적으로 이미지 첨부해서 청자의 집중을 유도할 것</a:t>
            </a:r>
            <a:endParaRPr/>
          </a:p>
        </p:txBody>
      </p:sp>
      <p:sp>
        <p:nvSpPr>
          <p:cNvPr id="266" name="Google Shape;266;g3fac882734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/>
              <a:t>이건 잘했음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이건 잘했음</a:t>
            </a:r>
            <a:endParaRPr/>
          </a:p>
        </p:txBody>
      </p:sp>
      <p:sp>
        <p:nvSpPr>
          <p:cNvPr id="373" name="Google Shape;37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구글 슬라이드라 폰트 위치가 깨짐 pdf 로 저장할 것</a:t>
            </a:r>
            <a:endParaRPr/>
          </a:p>
        </p:txBody>
      </p:sp>
      <p:sp>
        <p:nvSpPr>
          <p:cNvPr id="449" name="Google Shape;44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별도의 영상 링크 준비할 것</a:t>
            </a:r>
            <a:endParaRPr/>
          </a:p>
        </p:txBody>
      </p:sp>
      <p:sp>
        <p:nvSpPr>
          <p:cNvPr id="522" name="Google Shape;52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1" name="Google Shape;581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4" name="Google Shape;654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5" name="Google Shape;67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이건 팀 프로젝트니 본인 뿐 아니라 다른 팀원들의 소감도 같이 첨부할 것</a:t>
            </a:r>
            <a:endParaRPr/>
          </a:p>
        </p:txBody>
      </p:sp>
      <p:sp>
        <p:nvSpPr>
          <p:cNvPr id="699" name="Google Shape;69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이것도 마찬가지</a:t>
            </a:r>
            <a:endParaRPr/>
          </a:p>
        </p:txBody>
      </p:sp>
      <p:sp>
        <p:nvSpPr>
          <p:cNvPr id="722" name="Google Shape;72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3:notes"/>
          <p:cNvSpPr txBox="1"/>
          <p:nvPr>
            <p:ph idx="1" type="body"/>
          </p:nvPr>
        </p:nvSpPr>
        <p:spPr>
          <a:xfrm>
            <a:off x="685787" y="434338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23:notes"/>
          <p:cNvSpPr/>
          <p:nvPr>
            <p:ph idx="2" type="sldImg"/>
          </p:nvPr>
        </p:nvSpPr>
        <p:spPr>
          <a:xfrm>
            <a:off x="1143221" y="685795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7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7.png"/><Relationship Id="rId13" Type="http://schemas.openxmlformats.org/officeDocument/2006/relationships/image" Target="../media/image25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5" Type="http://schemas.openxmlformats.org/officeDocument/2006/relationships/image" Target="../media/image35.png"/><Relationship Id="rId14" Type="http://schemas.openxmlformats.org/officeDocument/2006/relationships/image" Target="../media/image29.png"/><Relationship Id="rId16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3" Type="http://schemas.openxmlformats.org/officeDocument/2006/relationships/image" Target="../media/image23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3" Type="http://schemas.openxmlformats.org/officeDocument/2006/relationships/image" Target="../media/image39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5.png"/><Relationship Id="rId14" Type="http://schemas.openxmlformats.org/officeDocument/2006/relationships/image" Target="../media/image43.png"/><Relationship Id="rId5" Type="http://schemas.openxmlformats.org/officeDocument/2006/relationships/image" Target="../media/image24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8.png"/><Relationship Id="rId13" Type="http://schemas.openxmlformats.org/officeDocument/2006/relationships/image" Target="../media/image30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44.png"/><Relationship Id="rId9" Type="http://schemas.openxmlformats.org/officeDocument/2006/relationships/hyperlink" Target="https://docs.ultralytics.com/ko/datasets/detect/visdrone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47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48.png"/><Relationship Id="rId9" Type="http://schemas.openxmlformats.org/officeDocument/2006/relationships/image" Target="../media/image58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50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72.png"/><Relationship Id="rId5" Type="http://schemas.openxmlformats.org/officeDocument/2006/relationships/image" Target="../media/image55.png"/><Relationship Id="rId6" Type="http://schemas.openxmlformats.org/officeDocument/2006/relationships/image" Target="../media/image61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6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51.png"/><Relationship Id="rId6" Type="http://schemas.openxmlformats.org/officeDocument/2006/relationships/image" Target="../media/image64.png"/><Relationship Id="rId7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54.png"/><Relationship Id="rId6" Type="http://schemas.openxmlformats.org/officeDocument/2006/relationships/image" Target="../media/image63.png"/><Relationship Id="rId7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27.png"/><Relationship Id="rId7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27.png"/><Relationship Id="rId7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27.png"/><Relationship Id="rId7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hyperlink" Target="https://www.yna.co.kr/view/AKR20250423131000009" TargetMode="External"/><Relationship Id="rId7" Type="http://schemas.openxmlformats.org/officeDocument/2006/relationships/hyperlink" Target="https://docs.ultralytics.com/ko/datasets/detect/visdr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 rotWithShape="1">
          <a:blip r:embed="rId6">
            <a:alphaModFix/>
          </a:blip>
          <a:srcRect b="17379" l="21662" r="0" t="1"/>
          <a:stretch/>
        </p:blipFill>
        <p:spPr>
          <a:xfrm>
            <a:off x="0" y="120747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5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94" name="Google Shape;94;p15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96" name="Google Shape;9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5"/>
          <p:cNvGrpSpPr/>
          <p:nvPr/>
        </p:nvGrpSpPr>
        <p:grpSpPr>
          <a:xfrm>
            <a:off x="6810988" y="4028125"/>
            <a:ext cx="5172407" cy="1400863"/>
            <a:chOff x="6831823" y="4028125"/>
            <a:chExt cx="5172407" cy="1400863"/>
          </a:xfrm>
        </p:grpSpPr>
        <p:sp>
          <p:nvSpPr>
            <p:cNvPr id="99" name="Google Shape;99;p15"/>
            <p:cNvSpPr txBox="1"/>
            <p:nvPr/>
          </p:nvSpPr>
          <p:spPr>
            <a:xfrm>
              <a:off x="6831823" y="4028125"/>
              <a:ext cx="51585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ko-KR" sz="24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팀명 : 마이클 Jetson</a:t>
              </a:r>
              <a:endParaRPr b="1" i="0" sz="2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노동민, 이상욱, 잠시드</a:t>
              </a:r>
              <a:endParaRPr b="1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6845730" y="5121188"/>
              <a:ext cx="5158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박승휘</a:t>
              </a:r>
              <a:endParaRPr b="1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1" name="Google Shape;101;p15"/>
          <p:cNvSpPr/>
          <p:nvPr/>
        </p:nvSpPr>
        <p:spPr>
          <a:xfrm>
            <a:off x="2538305" y="2113770"/>
            <a:ext cx="7115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ko-KR" sz="3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Edge AI Drone Project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2538305" y="2771920"/>
            <a:ext cx="7115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PC 환경 객체 탐지 기능의 온디바이스(Jetson) 이식 및 성능 최적화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23907" l="-1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875370" y="957535"/>
            <a:ext cx="22522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ko-KR" sz="4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 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6242098" y="2376075"/>
            <a:ext cx="4444763" cy="585000"/>
            <a:chOff x="6242098" y="2376075"/>
            <a:chExt cx="4444763" cy="585000"/>
          </a:xfrm>
        </p:grpSpPr>
        <p:sp>
          <p:nvSpPr>
            <p:cNvPr id="111" name="Google Shape;111;p16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6242098" y="2376075"/>
              <a:ext cx="7716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17" name="Google Shape;117;p16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6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130" name="Google Shape;130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0" name="Google Shape;140;p17"/>
          <p:cNvGrpSpPr/>
          <p:nvPr/>
        </p:nvGrpSpPr>
        <p:grpSpPr>
          <a:xfrm>
            <a:off x="376102" y="333243"/>
            <a:ext cx="5823573" cy="831300"/>
            <a:chOff x="376102" y="333243"/>
            <a:chExt cx="5823573" cy="831300"/>
          </a:xfrm>
        </p:grpSpPr>
        <p:sp>
          <p:nvSpPr>
            <p:cNvPr id="141" name="Google Shape;141;p17"/>
            <p:cNvSpPr txBox="1"/>
            <p:nvPr/>
          </p:nvSpPr>
          <p:spPr>
            <a:xfrm>
              <a:off x="1336675" y="492354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144" name="Google Shape;144;p17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및 배경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6" name="Google Shape;146;p1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34972" r="0" t="0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1327653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44922" r="0" t="0"/>
          <a:stretch/>
        </p:blipFill>
        <p:spPr>
          <a:xfrm rot="10800000">
            <a:off x="11016342" y="4903198"/>
            <a:ext cx="1175657" cy="77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45412" r="0" t="0"/>
          <a:stretch/>
        </p:blipFill>
        <p:spPr>
          <a:xfrm>
            <a:off x="0" y="3261891"/>
            <a:ext cx="2914926" cy="284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5934670"/>
            <a:ext cx="12191999" cy="92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17"/>
          <p:cNvGrpSpPr/>
          <p:nvPr/>
        </p:nvGrpSpPr>
        <p:grpSpPr>
          <a:xfrm>
            <a:off x="491899" y="2344988"/>
            <a:ext cx="2122201" cy="3832200"/>
            <a:chOff x="501797" y="2344988"/>
            <a:chExt cx="2122201" cy="3832200"/>
          </a:xfrm>
        </p:grpSpPr>
        <p:grpSp>
          <p:nvGrpSpPr>
            <p:cNvPr id="157" name="Google Shape;157;p17"/>
            <p:cNvGrpSpPr/>
            <p:nvPr/>
          </p:nvGrpSpPr>
          <p:grpSpPr>
            <a:xfrm>
              <a:off x="501798" y="2567441"/>
              <a:ext cx="2122200" cy="3609747"/>
              <a:chOff x="541891" y="2567441"/>
              <a:chExt cx="2122200" cy="3609747"/>
            </a:xfrm>
          </p:grpSpPr>
          <p:sp>
            <p:nvSpPr>
              <p:cNvPr id="158" name="Google Shape;158;p17"/>
              <p:cNvSpPr/>
              <p:nvPr/>
            </p:nvSpPr>
            <p:spPr>
              <a:xfrm>
                <a:off x="541891" y="2567441"/>
                <a:ext cx="2122200" cy="36096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2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541891" y="6034088"/>
                <a:ext cx="2122200" cy="143100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60" name="Google Shape;160;p17"/>
            <p:cNvSpPr txBox="1"/>
            <p:nvPr/>
          </p:nvSpPr>
          <p:spPr>
            <a:xfrm>
              <a:off x="710830" y="3060042"/>
              <a:ext cx="1704300" cy="9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" name="Google Shape;161;p17"/>
            <p:cNvGrpSpPr/>
            <p:nvPr/>
          </p:nvGrpSpPr>
          <p:grpSpPr>
            <a:xfrm>
              <a:off x="1388749" y="2344988"/>
              <a:ext cx="418440" cy="380418"/>
              <a:chOff x="428190" y="2066948"/>
              <a:chExt cx="911634" cy="828797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450324" y="2128945"/>
                <a:ext cx="889500" cy="7668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 rot="4668228">
                <a:off x="506135" y="2117828"/>
                <a:ext cx="667168" cy="69788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499992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616568" y="2271884"/>
                <a:ext cx="557100" cy="53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17"/>
            <p:cNvSpPr txBox="1"/>
            <p:nvPr/>
          </p:nvSpPr>
          <p:spPr>
            <a:xfrm>
              <a:off x="501797" y="4453027"/>
              <a:ext cx="2122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" name="Google Shape;166;p17"/>
            <p:cNvCxnSpPr/>
            <p:nvPr/>
          </p:nvCxnSpPr>
          <p:spPr>
            <a:xfrm>
              <a:off x="1458728" y="4260129"/>
              <a:ext cx="208500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  <p:pic>
        <p:nvPicPr>
          <p:cNvPr id="167" name="Google Shape;167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05663" y="1958948"/>
            <a:ext cx="5823575" cy="151817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038729" y="4044750"/>
            <a:ext cx="4502700" cy="15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전파 방해 또는 통신단절을 피하기 위해, 광섬유를 길게 뽑아서 통신하는 ‘광섬유 드론’의 등장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5691" y="4057141"/>
            <a:ext cx="2122200" cy="149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5" name="Google Shape;175;p18"/>
          <p:cNvGrpSpPr/>
          <p:nvPr/>
        </p:nvGrpSpPr>
        <p:grpSpPr>
          <a:xfrm>
            <a:off x="376102" y="333243"/>
            <a:ext cx="5823573" cy="830997"/>
            <a:chOff x="376102" y="333243"/>
            <a:chExt cx="5823573" cy="830997"/>
          </a:xfrm>
        </p:grpSpPr>
        <p:sp>
          <p:nvSpPr>
            <p:cNvPr id="176" name="Google Shape;176;p18"/>
            <p:cNvSpPr txBox="1"/>
            <p:nvPr/>
          </p:nvSpPr>
          <p:spPr>
            <a:xfrm>
              <a:off x="1336675" y="492354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79" name="Google Shape;179;p1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및 배경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1" name="Google Shape;181;p1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8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192" name="Google Shape;192;p18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95" name="Google Shape;195;p18"/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6" name="Google Shape;196;p18"/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" name="Google Shape;200;p18"/>
            <p:cNvSpPr txBox="1"/>
            <p:nvPr/>
          </p:nvSpPr>
          <p:spPr>
            <a:xfrm>
              <a:off x="501797" y="4453027"/>
              <a:ext cx="2122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" name="Google Shape;201;p18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  <p:sp>
        <p:nvSpPr>
          <p:cNvPr id="202" name="Google Shape;202;p18"/>
          <p:cNvSpPr/>
          <p:nvPr/>
        </p:nvSpPr>
        <p:spPr>
          <a:xfrm>
            <a:off x="7185750" y="1951013"/>
            <a:ext cx="4746900" cy="383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300650" y="2146013"/>
            <a:ext cx="4517100" cy="3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온디바이스 (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NVIDIA Jetson</a:t>
            </a:r>
            <a: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환경 드론 영상 객체 탐지 및 최적화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문제점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우크라이나 전쟁에서 사용된 드론은 전파방해와 통신단절 문제때문에 광섬유를연결한 유선통신을 사용함.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솔루션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온디바이스 Ai는 통신교란등에 구애받지 않으며 자율성과 독립임무수행에 적합함.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PC 환경에서</a:t>
            </a: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모델을 온디바이스 하드웨어에 맞춰 최적화 및 포팅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4" name="Google Shape;204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72263" y="4568063"/>
            <a:ext cx="9620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41900" y="2307588"/>
            <a:ext cx="9620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43525" y="2240913"/>
            <a:ext cx="8953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32638" y="2436188"/>
            <a:ext cx="904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99663" y="3261900"/>
            <a:ext cx="8858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21125" y="2633950"/>
            <a:ext cx="7239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445536" y="4185438"/>
            <a:ext cx="615503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83448" y="1799538"/>
            <a:ext cx="615503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8" name="Google Shape;218;p19"/>
          <p:cNvGrpSpPr/>
          <p:nvPr/>
        </p:nvGrpSpPr>
        <p:grpSpPr>
          <a:xfrm>
            <a:off x="376102" y="333243"/>
            <a:ext cx="5823573" cy="831300"/>
            <a:chOff x="376102" y="333243"/>
            <a:chExt cx="5823573" cy="831300"/>
          </a:xfrm>
        </p:grpSpPr>
        <p:sp>
          <p:nvSpPr>
            <p:cNvPr id="219" name="Google Shape;219;p19"/>
            <p:cNvSpPr txBox="1"/>
            <p:nvPr/>
          </p:nvSpPr>
          <p:spPr>
            <a:xfrm>
              <a:off x="1336675" y="492354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1" name="Google Shape;221;p1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19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223" name="Google Shape;223;p19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내용 : 파이프라인 아키텍쳐 및 최적화 과정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25" name="Google Shape;225;p1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9"/>
          <p:cNvPicPr preferRelativeResize="0"/>
          <p:nvPr/>
        </p:nvPicPr>
        <p:blipFill rotWithShape="1">
          <a:blip r:embed="rId5">
            <a:alphaModFix/>
          </a:blip>
          <a:srcRect b="0" l="34972" r="0" t="0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53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 rotWithShape="1">
          <a:blip r:embed="rId9">
            <a:alphaModFix/>
          </a:blip>
          <a:srcRect b="0" l="44922" r="0" t="0"/>
          <a:stretch/>
        </p:blipFill>
        <p:spPr>
          <a:xfrm rot="10800000">
            <a:off x="11016342" y="4903198"/>
            <a:ext cx="1175657" cy="77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6" cy="284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1999" cy="92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9"/>
          <p:cNvGrpSpPr/>
          <p:nvPr/>
        </p:nvGrpSpPr>
        <p:grpSpPr>
          <a:xfrm>
            <a:off x="541896" y="2345012"/>
            <a:ext cx="2122201" cy="3832176"/>
            <a:chOff x="2784169" y="2345012"/>
            <a:chExt cx="2122201" cy="3832176"/>
          </a:xfrm>
        </p:grpSpPr>
        <p:grpSp>
          <p:nvGrpSpPr>
            <p:cNvPr id="236" name="Google Shape;236;p19"/>
            <p:cNvGrpSpPr/>
            <p:nvPr/>
          </p:nvGrpSpPr>
          <p:grpSpPr>
            <a:xfrm>
              <a:off x="2784169" y="2567441"/>
              <a:ext cx="2122201" cy="3609747"/>
              <a:chOff x="2815881" y="2567441"/>
              <a:chExt cx="2122201" cy="3609747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2815881" y="2567441"/>
                <a:ext cx="2122200" cy="36096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2815882" y="6034088"/>
                <a:ext cx="2122200" cy="143100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39" name="Google Shape;239;p19"/>
            <p:cNvGrpSpPr/>
            <p:nvPr/>
          </p:nvGrpSpPr>
          <p:grpSpPr>
            <a:xfrm>
              <a:off x="3678203" y="2345012"/>
              <a:ext cx="418435" cy="380395"/>
              <a:chOff x="428200" y="2066998"/>
              <a:chExt cx="911624" cy="828747"/>
            </a:xfrm>
          </p:grpSpPr>
          <p:sp>
            <p:nvSpPr>
              <p:cNvPr id="240" name="Google Shape;240;p19"/>
              <p:cNvSpPr/>
              <p:nvPr/>
            </p:nvSpPr>
            <p:spPr>
              <a:xfrm>
                <a:off x="450324" y="2128945"/>
                <a:ext cx="889500" cy="7668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 rot="4668228">
                <a:off x="506146" y="2117878"/>
                <a:ext cx="667168" cy="69788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4"/>
                    </a:srgbClr>
                  </a:gs>
                  <a:gs pos="69000">
                    <a:srgbClr val="FFFFFF">
                      <a:alpha val="34118"/>
                    </a:srgbClr>
                  </a:gs>
                  <a:gs pos="100000">
                    <a:srgbClr val="FFFFFF">
                      <a:alpha val="34118"/>
                    </a:srgbClr>
                  </a:gs>
                </a:gsLst>
                <a:lin ang="1499992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42" name="Google Shape;242;p19"/>
              <p:cNvSpPr txBox="1"/>
              <p:nvPr/>
            </p:nvSpPr>
            <p:spPr>
              <a:xfrm>
                <a:off x="616568" y="2271884"/>
                <a:ext cx="557100" cy="53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>
                    <a:solidFill>
                      <a:schemeClr val="lt1"/>
                    </a:solidFill>
                  </a:rPr>
                  <a:t>2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3" name="Google Shape;243;p19"/>
            <p:cNvSpPr txBox="1"/>
            <p:nvPr/>
          </p:nvSpPr>
          <p:spPr>
            <a:xfrm>
              <a:off x="2993202" y="3060042"/>
              <a:ext cx="1704300" cy="7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2784169" y="4453027"/>
              <a:ext cx="2122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45" name="Google Shape;245;p19"/>
            <p:cNvCxnSpPr/>
            <p:nvPr/>
          </p:nvCxnSpPr>
          <p:spPr>
            <a:xfrm>
              <a:off x="3741100" y="4260129"/>
              <a:ext cx="208500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  <p:sp>
        <p:nvSpPr>
          <p:cNvPr id="246" name="Google Shape;246;p19"/>
          <p:cNvSpPr/>
          <p:nvPr/>
        </p:nvSpPr>
        <p:spPr>
          <a:xfrm>
            <a:off x="3373000" y="2439500"/>
            <a:ext cx="2402100" cy="5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7582950" y="2390288"/>
            <a:ext cx="2402100" cy="5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373000" y="3589775"/>
            <a:ext cx="2402100" cy="5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7582950" y="3611950"/>
            <a:ext cx="2402100" cy="5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308600" y="4833606"/>
            <a:ext cx="2739600" cy="78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4499350" y="3152925"/>
            <a:ext cx="149400" cy="23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709300" y="3139425"/>
            <a:ext cx="149400" cy="23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3" name="Google Shape;253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81295" y="4303220"/>
            <a:ext cx="585502" cy="5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flipH="1">
            <a:off x="8491251" y="4303224"/>
            <a:ext cx="585500" cy="510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3253350" y="2487725"/>
            <a:ext cx="2642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드론뷰 영상 입력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7462925" y="2458475"/>
            <a:ext cx="2642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YOLO 모델 (PyTorch 가중치)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3284400" y="3628475"/>
            <a:ext cx="2580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불필요한 영역 제거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7549800" y="3684738"/>
            <a:ext cx="2468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경량화 및 추론 속도 최적화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211300" y="4740050"/>
            <a:ext cx="2963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NVIDIA Jetson 환경</a:t>
            </a:r>
            <a:b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객체 인식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681200" y="3276813"/>
            <a:ext cx="1455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(OpenCV 마스킹)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8970350" y="3276813"/>
            <a:ext cx="1455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(ONNX 변환)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5895450" y="4441513"/>
            <a:ext cx="1455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및 구동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3284400" y="6002875"/>
            <a:ext cx="74964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[핵심의의] 통신 제약 및 자원 한계(Edge) 환경에서의 AI 서비스 구현 역량 확보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70" name="Google Shape;270;p20"/>
          <p:cNvGrpSpPr/>
          <p:nvPr/>
        </p:nvGrpSpPr>
        <p:grpSpPr>
          <a:xfrm>
            <a:off x="376102" y="333243"/>
            <a:ext cx="5823573" cy="831300"/>
            <a:chOff x="376102" y="333243"/>
            <a:chExt cx="5823573" cy="831300"/>
          </a:xfrm>
        </p:grpSpPr>
        <p:sp>
          <p:nvSpPr>
            <p:cNvPr id="271" name="Google Shape;271;p20"/>
            <p:cNvSpPr txBox="1"/>
            <p:nvPr/>
          </p:nvSpPr>
          <p:spPr>
            <a:xfrm>
              <a:off x="1336675" y="492354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3" name="Google Shape;273;p2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0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275" name="Google Shape;275;p20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7" name="Google Shape;277;p2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20"/>
          <p:cNvPicPr preferRelativeResize="0"/>
          <p:nvPr/>
        </p:nvPicPr>
        <p:blipFill rotWithShape="1">
          <a:blip r:embed="rId5">
            <a:alphaModFix/>
          </a:blip>
          <a:srcRect b="0" l="34972" r="0" t="0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299">
            <a:off x="8621099" y="4762218"/>
            <a:ext cx="3710390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53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/>
          <p:cNvPicPr preferRelativeResize="0"/>
          <p:nvPr/>
        </p:nvPicPr>
        <p:blipFill rotWithShape="1">
          <a:blip r:embed="rId9">
            <a:alphaModFix/>
          </a:blip>
          <a:srcRect b="0" l="44922" r="0" t="0"/>
          <a:stretch/>
        </p:blipFill>
        <p:spPr>
          <a:xfrm rot="10800000">
            <a:off x="11016342" y="4903198"/>
            <a:ext cx="1175657" cy="77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6" cy="2847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1999" cy="92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0"/>
          <p:cNvGrpSpPr/>
          <p:nvPr/>
        </p:nvGrpSpPr>
        <p:grpSpPr>
          <a:xfrm>
            <a:off x="541899" y="2345012"/>
            <a:ext cx="2124468" cy="3832176"/>
            <a:chOff x="5064272" y="2345012"/>
            <a:chExt cx="2124468" cy="3832176"/>
          </a:xfrm>
        </p:grpSpPr>
        <p:grpSp>
          <p:nvGrpSpPr>
            <p:cNvPr id="288" name="Google Shape;288;p20"/>
            <p:cNvGrpSpPr/>
            <p:nvPr/>
          </p:nvGrpSpPr>
          <p:grpSpPr>
            <a:xfrm>
              <a:off x="5066540" y="2567441"/>
              <a:ext cx="2122200" cy="3609747"/>
              <a:chOff x="541891" y="2567441"/>
              <a:chExt cx="2122200" cy="3609747"/>
            </a:xfrm>
          </p:grpSpPr>
          <p:sp>
            <p:nvSpPr>
              <p:cNvPr id="289" name="Google Shape;289;p20"/>
              <p:cNvSpPr/>
              <p:nvPr/>
            </p:nvSpPr>
            <p:spPr>
              <a:xfrm>
                <a:off x="541891" y="2567441"/>
                <a:ext cx="2122200" cy="36096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2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541891" y="6034088"/>
                <a:ext cx="2122200" cy="143100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1" name="Google Shape;291;p20"/>
            <p:cNvGrpSpPr/>
            <p:nvPr/>
          </p:nvGrpSpPr>
          <p:grpSpPr>
            <a:xfrm>
              <a:off x="5913403" y="2345012"/>
              <a:ext cx="418435" cy="380395"/>
              <a:chOff x="428200" y="2066998"/>
              <a:chExt cx="911624" cy="828747"/>
            </a:xfrm>
          </p:grpSpPr>
          <p:sp>
            <p:nvSpPr>
              <p:cNvPr id="292" name="Google Shape;292;p20"/>
              <p:cNvSpPr/>
              <p:nvPr/>
            </p:nvSpPr>
            <p:spPr>
              <a:xfrm>
                <a:off x="450324" y="2128945"/>
                <a:ext cx="889500" cy="7668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 rot="4668228">
                <a:off x="506146" y="2117878"/>
                <a:ext cx="667168" cy="69788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499992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4" name="Google Shape;294;p20"/>
              <p:cNvSpPr txBox="1"/>
              <p:nvPr/>
            </p:nvSpPr>
            <p:spPr>
              <a:xfrm>
                <a:off x="616568" y="2271884"/>
                <a:ext cx="557100" cy="53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ko-KR" sz="1600">
                    <a:solidFill>
                      <a:schemeClr val="lt1"/>
                    </a:solidFill>
                  </a:rPr>
                  <a:t>3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5" name="Google Shape;295;p20"/>
            <p:cNvSpPr txBox="1"/>
            <p:nvPr/>
          </p:nvSpPr>
          <p:spPr>
            <a:xfrm>
              <a:off x="5275573" y="3060042"/>
              <a:ext cx="17043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기술</a:t>
              </a:r>
              <a:endParaRPr b="1" i="0" sz="18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5064272" y="4453027"/>
              <a:ext cx="2122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7" name="Google Shape;297;p20"/>
            <p:cNvCxnSpPr/>
            <p:nvPr/>
          </p:nvCxnSpPr>
          <p:spPr>
            <a:xfrm>
              <a:off x="6021203" y="4260129"/>
              <a:ext cx="208500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  <p:pic>
        <p:nvPicPr>
          <p:cNvPr id="298" name="Google Shape;298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12238" y="2240913"/>
            <a:ext cx="904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 txBox="1"/>
          <p:nvPr/>
        </p:nvSpPr>
        <p:spPr>
          <a:xfrm>
            <a:off x="3917125" y="2267750"/>
            <a:ext cx="70962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 및 기본 환경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NVIDIA Jetson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Ubuntu, </a:t>
            </a:r>
            <a:r>
              <a:rPr b="1" lang="ko-KR" sz="12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3.8</a:t>
            </a: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CUDA 10.2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5338275" y="3401825"/>
            <a:ext cx="63342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가상환경 및 기술 스택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3.11</a:t>
            </a:r>
            <a:endParaRPr b="1" sz="1200">
              <a:solidFill>
                <a:srgbClr val="CC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PyTorch 2.5.1 | OpenCV 5.0.0 | Ultralytics 8.4 | ONNX 1.22 / ONNX Runtime 1.28</a:t>
            </a:r>
            <a:endParaRPr/>
          </a:p>
        </p:txBody>
      </p:sp>
      <p:pic>
        <p:nvPicPr>
          <p:cNvPr id="301" name="Google Shape;301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224275" y="3420675"/>
            <a:ext cx="20193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/>
        </p:nvSpPr>
        <p:spPr>
          <a:xfrm>
            <a:off x="4298113" y="4771700"/>
            <a:ext cx="63342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구형 하드웨어 기반의 최신 PyTorch 연산 제약 존재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ONNX 포맷 변환 및 런타임 활용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9" name="Google Shape;309;p21"/>
          <p:cNvGrpSpPr/>
          <p:nvPr/>
        </p:nvGrpSpPr>
        <p:grpSpPr>
          <a:xfrm>
            <a:off x="376102" y="333243"/>
            <a:ext cx="5942487" cy="830997"/>
            <a:chOff x="376102" y="333243"/>
            <a:chExt cx="5942487" cy="830997"/>
          </a:xfrm>
        </p:grpSpPr>
        <p:sp>
          <p:nvSpPr>
            <p:cNvPr id="310" name="Google Shape;310;p21"/>
            <p:cNvSpPr txBox="1"/>
            <p:nvPr/>
          </p:nvSpPr>
          <p:spPr>
            <a:xfrm>
              <a:off x="1455710" y="488514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2" name="Google Shape;312;p2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14" name="Google Shape;314;p2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16" name="Google Shape;316;p2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8" name="Google Shape;318;p21"/>
          <p:cNvGraphicFramePr/>
          <p:nvPr/>
        </p:nvGraphicFramePr>
        <p:xfrm>
          <a:off x="515953" y="21504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{F612A400-85F5-4BE6-8396-EB84EEEC0291}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10196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노동민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</a:t>
                      </a:r>
                      <a:r>
                        <a:rPr b="1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이상욱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잠시드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박승휘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19" name="Google Shape;319;p21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1">
            <a:off x="1715" y="5530567"/>
            <a:ext cx="1452420" cy="91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5878" y="555520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21"/>
          <p:cNvGrpSpPr/>
          <p:nvPr/>
        </p:nvGrpSpPr>
        <p:grpSpPr>
          <a:xfrm>
            <a:off x="4517297" y="2921038"/>
            <a:ext cx="2713128" cy="358635"/>
            <a:chOff x="4525872" y="3492488"/>
            <a:chExt cx="2713128" cy="358635"/>
          </a:xfrm>
        </p:grpSpPr>
        <p:sp>
          <p:nvSpPr>
            <p:cNvPr id="322" name="Google Shape;322;p21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4" name="Google Shape;324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1"/>
            <p:cNvSpPr txBox="1"/>
            <p:nvPr/>
          </p:nvSpPr>
          <p:spPr>
            <a:xfrm>
              <a:off x="5023036" y="3519045"/>
              <a:ext cx="1866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Python 코드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21"/>
          <p:cNvSpPr/>
          <p:nvPr/>
        </p:nvSpPr>
        <p:spPr>
          <a:xfrm>
            <a:off x="4517297" y="3680100"/>
            <a:ext cx="2713200" cy="358500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4517297" y="3680100"/>
            <a:ext cx="358500" cy="35850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014449" y="3706650"/>
            <a:ext cx="202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 정리 및 정규화</a:t>
            </a:r>
            <a:endParaRPr b="1" i="0" sz="12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9" name="Google Shape;32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4522" y="376425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21"/>
          <p:cNvGrpSpPr/>
          <p:nvPr/>
        </p:nvGrpSpPr>
        <p:grpSpPr>
          <a:xfrm>
            <a:off x="4517297" y="4474221"/>
            <a:ext cx="2713128" cy="358635"/>
            <a:chOff x="4525872" y="5045671"/>
            <a:chExt cx="2713128" cy="358635"/>
          </a:xfrm>
        </p:grpSpPr>
        <p:sp>
          <p:nvSpPr>
            <p:cNvPr id="331" name="Google Shape;331;p21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가상환경 구축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34" name="Google Shape;334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5" name="Google Shape;335;p21"/>
          <p:cNvGrpSpPr/>
          <p:nvPr/>
        </p:nvGrpSpPr>
        <p:grpSpPr>
          <a:xfrm>
            <a:off x="7570832" y="3680100"/>
            <a:ext cx="2713128" cy="358635"/>
            <a:chOff x="7579407" y="4251550"/>
            <a:chExt cx="2713128" cy="358635"/>
          </a:xfrm>
        </p:grpSpPr>
        <p:sp>
          <p:nvSpPr>
            <p:cNvPr id="336" name="Google Shape;336;p21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8133725" y="4278100"/>
              <a:ext cx="19899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학습 및 성능 분석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39" name="Google Shape;339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21"/>
          <p:cNvGrpSpPr/>
          <p:nvPr/>
        </p:nvGrpSpPr>
        <p:grpSpPr>
          <a:xfrm>
            <a:off x="4517297" y="5250884"/>
            <a:ext cx="4276489" cy="358500"/>
            <a:chOff x="4525872" y="5822334"/>
            <a:chExt cx="4276489" cy="358500"/>
          </a:xfrm>
        </p:grpSpPr>
        <p:sp>
          <p:nvSpPr>
            <p:cNvPr id="341" name="Google Shape;341;p21"/>
            <p:cNvSpPr/>
            <p:nvPr/>
          </p:nvSpPr>
          <p:spPr>
            <a:xfrm>
              <a:off x="4525872" y="5822334"/>
              <a:ext cx="3749700" cy="35850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4525872" y="5822334"/>
              <a:ext cx="358500" cy="35850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4948561" y="5863116"/>
              <a:ext cx="3853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4" name="Google Shape;344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608114" y="5920969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5" name="Google Shape;345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-434299">
            <a:off x="8570524" y="4765505"/>
            <a:ext cx="3710390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/>
          <p:nvPr/>
        </p:nvSpPr>
        <p:spPr>
          <a:xfrm flipH="1">
            <a:off x="10490524" y="4442337"/>
            <a:ext cx="1692900" cy="1372800"/>
          </a:xfrm>
          <a:prstGeom prst="rtTriangle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1"/>
          <p:cNvGrpSpPr/>
          <p:nvPr/>
        </p:nvGrpSpPr>
        <p:grpSpPr>
          <a:xfrm>
            <a:off x="7570832" y="2921038"/>
            <a:ext cx="2713200" cy="358500"/>
            <a:chOff x="7579407" y="3492488"/>
            <a:chExt cx="2713200" cy="358500"/>
          </a:xfrm>
        </p:grpSpPr>
        <p:sp>
          <p:nvSpPr>
            <p:cNvPr id="349" name="Google Shape;349;p21"/>
            <p:cNvSpPr/>
            <p:nvPr/>
          </p:nvSpPr>
          <p:spPr>
            <a:xfrm>
              <a:off x="7579407" y="3492488"/>
              <a:ext cx="2713200" cy="35850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7579407" y="3492488"/>
              <a:ext cx="358500" cy="35850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1"/>
            <p:cNvSpPr txBox="1"/>
            <p:nvPr/>
          </p:nvSpPr>
          <p:spPr>
            <a:xfrm>
              <a:off x="8133721" y="3519045"/>
              <a:ext cx="1866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학습 및 성능 분석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352" name="Google Shape;35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33427" y="2990755"/>
            <a:ext cx="2286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21"/>
          <p:cNvGrpSpPr/>
          <p:nvPr/>
        </p:nvGrpSpPr>
        <p:grpSpPr>
          <a:xfrm>
            <a:off x="7570832" y="4474221"/>
            <a:ext cx="2713200" cy="358500"/>
            <a:chOff x="7579407" y="5045671"/>
            <a:chExt cx="2713200" cy="358500"/>
          </a:xfrm>
        </p:grpSpPr>
        <p:sp>
          <p:nvSpPr>
            <p:cNvPr id="354" name="Google Shape;354;p21"/>
            <p:cNvSpPr/>
            <p:nvPr/>
          </p:nvSpPr>
          <p:spPr>
            <a:xfrm>
              <a:off x="7579407" y="5045671"/>
              <a:ext cx="2713200" cy="35850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1"/>
            <p:cNvSpPr txBox="1"/>
            <p:nvPr/>
          </p:nvSpPr>
          <p:spPr>
            <a:xfrm>
              <a:off x="8133721" y="5072228"/>
              <a:ext cx="1866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학습 및 성능 분석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6" name="Google Shape;356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21"/>
            <p:cNvSpPr/>
            <p:nvPr/>
          </p:nvSpPr>
          <p:spPr>
            <a:xfrm>
              <a:off x="7579407" y="5045671"/>
              <a:ext cx="358500" cy="35850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8" name="Google Shape;35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33427" y="4543930"/>
            <a:ext cx="2286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21"/>
          <p:cNvGrpSpPr/>
          <p:nvPr/>
        </p:nvGrpSpPr>
        <p:grpSpPr>
          <a:xfrm>
            <a:off x="10438080" y="2921025"/>
            <a:ext cx="1691680" cy="358500"/>
            <a:chOff x="4525872" y="5045671"/>
            <a:chExt cx="2713200" cy="358500"/>
          </a:xfrm>
        </p:grpSpPr>
        <p:sp>
          <p:nvSpPr>
            <p:cNvPr id="360" name="Google Shape;360;p21"/>
            <p:cNvSpPr/>
            <p:nvPr/>
          </p:nvSpPr>
          <p:spPr>
            <a:xfrm>
              <a:off x="4525872" y="5045671"/>
              <a:ext cx="2713200" cy="35850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1"/>
            <p:cNvSpPr txBox="1"/>
            <p:nvPr/>
          </p:nvSpPr>
          <p:spPr>
            <a:xfrm>
              <a:off x="5029159" y="5082696"/>
              <a:ext cx="2128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PPT 제작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2" name="Google Shape;362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21"/>
          <p:cNvSpPr/>
          <p:nvPr/>
        </p:nvSpPr>
        <p:spPr>
          <a:xfrm>
            <a:off x="10436797" y="2921034"/>
            <a:ext cx="358500" cy="35850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92250" y="2976600"/>
            <a:ext cx="247600" cy="247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1"/>
          <p:cNvGrpSpPr/>
          <p:nvPr/>
        </p:nvGrpSpPr>
        <p:grpSpPr>
          <a:xfrm>
            <a:off x="10420580" y="3681700"/>
            <a:ext cx="1691680" cy="358500"/>
            <a:chOff x="4525872" y="5045671"/>
            <a:chExt cx="2713200" cy="358500"/>
          </a:xfrm>
        </p:grpSpPr>
        <p:sp>
          <p:nvSpPr>
            <p:cNvPr id="366" name="Google Shape;366;p21"/>
            <p:cNvSpPr/>
            <p:nvPr/>
          </p:nvSpPr>
          <p:spPr>
            <a:xfrm>
              <a:off x="4525872" y="5045671"/>
              <a:ext cx="2713200" cy="35850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1"/>
            <p:cNvSpPr txBox="1"/>
            <p:nvPr/>
          </p:nvSpPr>
          <p:spPr>
            <a:xfrm>
              <a:off x="5029159" y="5082696"/>
              <a:ext cx="2128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일지 작성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8" name="Google Shape;368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9" name="Google Shape;369;p21"/>
          <p:cNvSpPr/>
          <p:nvPr/>
        </p:nvSpPr>
        <p:spPr>
          <a:xfrm>
            <a:off x="10419297" y="3681684"/>
            <a:ext cx="358500" cy="35850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74750" y="3737275"/>
            <a:ext cx="247600" cy="2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79" name="Google Shape;379;p22"/>
          <p:cNvGrpSpPr/>
          <p:nvPr/>
        </p:nvGrpSpPr>
        <p:grpSpPr>
          <a:xfrm>
            <a:off x="376102" y="333243"/>
            <a:ext cx="5974265" cy="830997"/>
            <a:chOff x="376102" y="333243"/>
            <a:chExt cx="5974265" cy="830997"/>
          </a:xfrm>
        </p:grpSpPr>
        <p:sp>
          <p:nvSpPr>
            <p:cNvPr id="380" name="Google Shape;380;p22"/>
            <p:cNvSpPr txBox="1"/>
            <p:nvPr/>
          </p:nvSpPr>
          <p:spPr>
            <a:xfrm>
              <a:off x="1487488" y="491395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2" name="Google Shape;382;p22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2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4" name="Google Shape;384;p2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86" name="Google Shape;386;p2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467002" y="2109348"/>
            <a:ext cx="9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89" name="Google Shape;389;p22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{F612A400-85F5-4BE6-8396-EB84EEEC0291}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5098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8/10(월)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모델 완성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8/12(수)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오픈 데이터셋 활용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Jetson 보드 환경 구축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8/13(목)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Conda 가상 환경</a:t>
                      </a:r>
                      <a:endParaRPr b="1" i="0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온디바이스 환경 최적화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8/14(금)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400" u="none" cap="none" strike="noStrike"/>
                        <a:t>총 개발 기간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8/10(월) ~ 8/14(금)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0" name="Google Shape;39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p22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2" name="Google Shape;392;p22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393" name="Google Shape;393;p22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394" name="Google Shape;394;p22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22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6" name="Google Shape;396;p22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397" name="Google Shape;397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8" name="Google Shape;398;p22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399" name="Google Shape;399;p22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0" name="Google Shape;400;p22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1" name="Google Shape;401;p22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22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" name="Google Shape;403;p22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4" name="Google Shape;404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22"/>
          <p:cNvGrpSpPr/>
          <p:nvPr/>
        </p:nvGrpSpPr>
        <p:grpSpPr>
          <a:xfrm>
            <a:off x="4574000" y="3841203"/>
            <a:ext cx="2686790" cy="326913"/>
            <a:chOff x="4574111" y="3841157"/>
            <a:chExt cx="2474708" cy="326913"/>
          </a:xfrm>
        </p:grpSpPr>
        <p:grpSp>
          <p:nvGrpSpPr>
            <p:cNvPr id="406" name="Google Shape;406;p22"/>
            <p:cNvGrpSpPr/>
            <p:nvPr/>
          </p:nvGrpSpPr>
          <p:grpSpPr>
            <a:xfrm>
              <a:off x="4574111" y="3841157"/>
              <a:ext cx="2474708" cy="326913"/>
              <a:chOff x="4665551" y="3307757"/>
              <a:chExt cx="2474708" cy="326913"/>
            </a:xfrm>
          </p:grpSpPr>
          <p:grpSp>
            <p:nvGrpSpPr>
              <p:cNvPr id="407" name="Google Shape;407;p22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8" name="Google Shape;408;p22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2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0" name="Google Shape;410;p22"/>
              <p:cNvSpPr txBox="1"/>
              <p:nvPr/>
            </p:nvSpPr>
            <p:spPr>
              <a:xfrm>
                <a:off x="5018659" y="3340188"/>
                <a:ext cx="21216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Y</a:t>
                </a: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OLO</a:t>
                </a: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모델에 드론뷰 파인튜닝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1" name="Google Shape;411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22"/>
          <p:cNvGrpSpPr/>
          <p:nvPr/>
        </p:nvGrpSpPr>
        <p:grpSpPr>
          <a:xfrm>
            <a:off x="7383738" y="3841157"/>
            <a:ext cx="1937037" cy="326913"/>
            <a:chOff x="7383738" y="3841157"/>
            <a:chExt cx="1937037" cy="326913"/>
          </a:xfrm>
        </p:grpSpPr>
        <p:grpSp>
          <p:nvGrpSpPr>
            <p:cNvPr id="413" name="Google Shape;413;p22"/>
            <p:cNvGrpSpPr/>
            <p:nvPr/>
          </p:nvGrpSpPr>
          <p:grpSpPr>
            <a:xfrm>
              <a:off x="7383738" y="3841157"/>
              <a:ext cx="1937037" cy="326913"/>
              <a:chOff x="4665552" y="3307757"/>
              <a:chExt cx="1937037" cy="326913"/>
            </a:xfrm>
          </p:grpSpPr>
          <p:grpSp>
            <p:nvGrpSpPr>
              <p:cNvPr id="414" name="Google Shape;414;p22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15" name="Google Shape;415;p22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22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7" name="Google Shape;417;p22"/>
              <p:cNvSpPr txBox="1"/>
              <p:nvPr/>
            </p:nvSpPr>
            <p:spPr>
              <a:xfrm>
                <a:off x="4948389" y="3340200"/>
                <a:ext cx="1654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PC 환경에서의 구현</a:t>
                </a:r>
                <a:endParaRPr b="1" i="0" sz="12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8" name="Google Shape;418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" name="Google Shape;419;p22"/>
          <p:cNvGrpSpPr/>
          <p:nvPr/>
        </p:nvGrpSpPr>
        <p:grpSpPr>
          <a:xfrm>
            <a:off x="4574136" y="4370149"/>
            <a:ext cx="2863698" cy="326913"/>
            <a:chOff x="4574111" y="4369794"/>
            <a:chExt cx="2655014" cy="326913"/>
          </a:xfrm>
        </p:grpSpPr>
        <p:grpSp>
          <p:nvGrpSpPr>
            <p:cNvPr id="420" name="Google Shape;420;p22"/>
            <p:cNvGrpSpPr/>
            <p:nvPr/>
          </p:nvGrpSpPr>
          <p:grpSpPr>
            <a:xfrm>
              <a:off x="4574111" y="4369794"/>
              <a:ext cx="2655014" cy="326913"/>
              <a:chOff x="4665551" y="3307757"/>
              <a:chExt cx="2655014" cy="326913"/>
            </a:xfrm>
          </p:grpSpPr>
          <p:grpSp>
            <p:nvGrpSpPr>
              <p:cNvPr id="421" name="Google Shape;421;p22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2" name="Google Shape;422;p22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22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4" name="Google Shape;424;p22"/>
              <p:cNvSpPr txBox="1"/>
              <p:nvPr/>
            </p:nvSpPr>
            <p:spPr>
              <a:xfrm>
                <a:off x="5018665" y="3340188"/>
                <a:ext cx="23019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온디바이스 가상환경 셋팅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25" name="Google Shape;425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22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27" name="Google Shape;427;p22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28" name="Google Shape;428;p22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9" name="Google Shape;429;p22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22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1" name="Google Shape;431;p22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ONNX 경량화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2" name="Google Shape;432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3" name="Google Shape;433;p22"/>
          <p:cNvSpPr txBox="1"/>
          <p:nvPr/>
        </p:nvSpPr>
        <p:spPr>
          <a:xfrm>
            <a:off x="751975" y="6186225"/>
            <a:ext cx="106179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VisDrone Dataset : </a:t>
            </a:r>
            <a:r>
              <a:rPr b="0" i="0" lang="ko-KR" sz="110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9"/>
              </a:rPr>
              <a:t>https://docs.ultralytics.com/ko/datasets/detect/visdrone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34" name="Google Shape;434;p22"/>
          <p:cNvGrpSpPr/>
          <p:nvPr/>
        </p:nvGrpSpPr>
        <p:grpSpPr>
          <a:xfrm>
            <a:off x="7260680" y="4898563"/>
            <a:ext cx="2059943" cy="327000"/>
            <a:chOff x="4574111" y="4896844"/>
            <a:chExt cx="2456700" cy="327000"/>
          </a:xfrm>
        </p:grpSpPr>
        <p:grpSp>
          <p:nvGrpSpPr>
            <p:cNvPr id="435" name="Google Shape;435;p22"/>
            <p:cNvGrpSpPr/>
            <p:nvPr/>
          </p:nvGrpSpPr>
          <p:grpSpPr>
            <a:xfrm>
              <a:off x="4574111" y="4896844"/>
              <a:ext cx="2456700" cy="327000"/>
              <a:chOff x="4665551" y="3307757"/>
              <a:chExt cx="2456700" cy="327000"/>
            </a:xfrm>
          </p:grpSpPr>
          <p:sp>
            <p:nvSpPr>
              <p:cNvPr id="436" name="Google Shape;436;p22"/>
              <p:cNvSpPr/>
              <p:nvPr/>
            </p:nvSpPr>
            <p:spPr>
              <a:xfrm>
                <a:off x="4665551" y="3307757"/>
                <a:ext cx="2456700" cy="327000"/>
              </a:xfrm>
              <a:prstGeom prst="roundRect">
                <a:avLst>
                  <a:gd fmla="val 50000" name="adj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2"/>
              <p:cNvSpPr txBox="1"/>
              <p:nvPr/>
            </p:nvSpPr>
            <p:spPr>
              <a:xfrm>
                <a:off x="5018659" y="3340188"/>
                <a:ext cx="19716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모델 업그레이드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8" name="Google Shape;438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9" name="Google Shape;439;p22"/>
          <p:cNvSpPr/>
          <p:nvPr/>
        </p:nvSpPr>
        <p:spPr>
          <a:xfrm>
            <a:off x="7260686" y="4898557"/>
            <a:ext cx="335100" cy="32700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53327" y="4971789"/>
            <a:ext cx="149803" cy="180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22"/>
          <p:cNvGrpSpPr/>
          <p:nvPr/>
        </p:nvGrpSpPr>
        <p:grpSpPr>
          <a:xfrm>
            <a:off x="7383755" y="4348213"/>
            <a:ext cx="2059943" cy="327000"/>
            <a:chOff x="4630578" y="2605007"/>
            <a:chExt cx="2456700" cy="327000"/>
          </a:xfrm>
        </p:grpSpPr>
        <p:sp>
          <p:nvSpPr>
            <p:cNvPr id="442" name="Google Shape;442;p22"/>
            <p:cNvSpPr/>
            <p:nvPr/>
          </p:nvSpPr>
          <p:spPr>
            <a:xfrm>
              <a:off x="4630578" y="2605007"/>
              <a:ext cx="2456700" cy="32700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4968719" y="2649213"/>
              <a:ext cx="1971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테스트 포팅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44" name="Google Shape;44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84552" y="4412189"/>
            <a:ext cx="149803" cy="180532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2"/>
          <p:cNvSpPr/>
          <p:nvPr/>
        </p:nvSpPr>
        <p:spPr>
          <a:xfrm>
            <a:off x="7391911" y="4348232"/>
            <a:ext cx="335100" cy="32700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84552" y="4412189"/>
            <a:ext cx="149803" cy="180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3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4" name="Google Shape;454;p23"/>
          <p:cNvGrpSpPr/>
          <p:nvPr/>
        </p:nvGrpSpPr>
        <p:grpSpPr>
          <a:xfrm>
            <a:off x="376102" y="333243"/>
            <a:ext cx="5947728" cy="830997"/>
            <a:chOff x="376102" y="333243"/>
            <a:chExt cx="5947728" cy="830997"/>
          </a:xfrm>
        </p:grpSpPr>
        <p:sp>
          <p:nvSpPr>
            <p:cNvPr id="455" name="Google Shape;455;p23"/>
            <p:cNvSpPr txBox="1"/>
            <p:nvPr/>
          </p:nvSpPr>
          <p:spPr>
            <a:xfrm>
              <a:off x="1460951" y="492354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7" name="Google Shape;457;p23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2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59" name="Google Shape;459;p2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1" name="Google Shape;461;p2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3" name="Google Shape;463;p23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64" name="Google Shape;464;p23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5" name="Google Shape;465;p23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 요약 </a:t>
              </a:r>
              <a:endParaRPr b="1" i="0" sz="1400" u="none" cap="none" strike="noStrike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66" name="Google Shape;466;p23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67" name="Google Shape;467;p23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68" name="Google Shape;468;p23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i="0" sz="1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9" name="Google Shape;469;p23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7059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3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23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72" name="Google Shape;472;p23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3" name="Google Shape;473;p23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74" name="Google Shape;474;p23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5" name="Google Shape;475;p23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6" name="Google Shape;476;p23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" name="Google Shape;477;p23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NVIDIA Jetson 엣지 디바이스로의 순수 포팅 및 초기 구동 테스트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23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79" name="Google Shape;479;p23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0" name="Google Shape;480;p23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1" name="Google Shape;481;p23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23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4" name="Google Shape;484;p23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85" name="Google Shape;485;p23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6" name="Google Shape;486;p23"/>
            <p:cNvSpPr txBox="1"/>
            <p:nvPr/>
          </p:nvSpPr>
          <p:spPr>
            <a:xfrm>
              <a:off x="3256170" y="2914852"/>
              <a:ext cx="8342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PC 환경 모델 구현 및 학습 (YOLO 기반 객체 탐지 파이프라인 완성)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7" name="Google Shape;487;p23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88" name="Google Shape;488;p23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23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1" name="Google Shape;491;p23"/>
          <p:cNvGrpSpPr/>
          <p:nvPr/>
        </p:nvGrpSpPr>
        <p:grpSpPr>
          <a:xfrm>
            <a:off x="2587365" y="5807772"/>
            <a:ext cx="9105466" cy="673099"/>
            <a:chOff x="2654691" y="5534844"/>
            <a:chExt cx="9105466" cy="673099"/>
          </a:xfrm>
        </p:grpSpPr>
        <p:sp>
          <p:nvSpPr>
            <p:cNvPr id="492" name="Google Shape;492;p23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3" name="Google Shape;493;p23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494" name="Google Shape;494;p23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8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6" name="Google Shape;496;p23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7" name="Google Shape;497;p23"/>
            <p:cNvSpPr txBox="1"/>
            <p:nvPr/>
          </p:nvSpPr>
          <p:spPr>
            <a:xfrm>
              <a:off x="3276220" y="5707799"/>
              <a:ext cx="6956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ONNX 모델 경량화/런타임 적용 및 OpenCv 마스킹 후처리를 통한 오탐지 개선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498" name="Google Shape;498;p23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23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00" name="Google Shape;500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2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3" name="Google Shape;503;p23"/>
          <p:cNvSpPr txBox="1"/>
          <p:nvPr/>
        </p:nvSpPr>
        <p:spPr>
          <a:xfrm>
            <a:off x="3249632" y="4780581"/>
            <a:ext cx="86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병목 문제 해결을 위한 ONNX 변환 및 입력 해상도 및 FPS 경감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0" name="Google Shape;510;p24"/>
          <p:cNvGrpSpPr/>
          <p:nvPr/>
        </p:nvGrpSpPr>
        <p:grpSpPr>
          <a:xfrm>
            <a:off x="376102" y="333243"/>
            <a:ext cx="5934953" cy="830997"/>
            <a:chOff x="376102" y="333243"/>
            <a:chExt cx="5934953" cy="830997"/>
          </a:xfrm>
        </p:grpSpPr>
        <p:sp>
          <p:nvSpPr>
            <p:cNvPr id="511" name="Google Shape;511;p24"/>
            <p:cNvSpPr txBox="1"/>
            <p:nvPr/>
          </p:nvSpPr>
          <p:spPr>
            <a:xfrm>
              <a:off x="1448176" y="484002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p2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24"/>
          <p:cNvGrpSpPr/>
          <p:nvPr/>
        </p:nvGrpSpPr>
        <p:grpSpPr>
          <a:xfrm>
            <a:off x="541891" y="1430219"/>
            <a:ext cx="10526224" cy="646500"/>
            <a:chOff x="541891" y="1430219"/>
            <a:chExt cx="10526224" cy="646500"/>
          </a:xfrm>
        </p:grpSpPr>
        <p:sp>
          <p:nvSpPr>
            <p:cNvPr id="516" name="Google Shape;516;p24"/>
            <p:cNvSpPr txBox="1"/>
            <p:nvPr/>
          </p:nvSpPr>
          <p:spPr>
            <a:xfrm>
              <a:off x="743615" y="1430219"/>
              <a:ext cx="1032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PC 환경에서의 객체 탐지 모델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18" name="Google Shape;518;p24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4" title="PC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0047" y="2076722"/>
            <a:ext cx="7251908" cy="40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5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6" name="Google Shape;526;p25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527" name="Google Shape;527;p25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5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2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5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25"/>
          <p:cNvGrpSpPr/>
          <p:nvPr/>
        </p:nvGrpSpPr>
        <p:grpSpPr>
          <a:xfrm>
            <a:off x="541891" y="1430219"/>
            <a:ext cx="10526224" cy="646500"/>
            <a:chOff x="541891" y="1430219"/>
            <a:chExt cx="10526224" cy="646500"/>
          </a:xfrm>
        </p:grpSpPr>
        <p:sp>
          <p:nvSpPr>
            <p:cNvPr id="532" name="Google Shape;532;p25"/>
            <p:cNvSpPr txBox="1"/>
            <p:nvPr/>
          </p:nvSpPr>
          <p:spPr>
            <a:xfrm>
              <a:off x="743615" y="1430219"/>
              <a:ext cx="1032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온디바이스 환경에서의 객체 탐지 모델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p25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34" name="Google Shape;534;p2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5" title="Ondevic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224" y="2076725"/>
            <a:ext cx="8402049" cy="446520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5"/>
          <p:cNvSpPr txBox="1"/>
          <p:nvPr/>
        </p:nvSpPr>
        <p:spPr>
          <a:xfrm>
            <a:off x="9765625" y="3609450"/>
            <a:ext cx="119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1.28</a:t>
            </a:r>
            <a:endParaRPr b="0" i="0" sz="40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7" name="Google Shape;537;p25"/>
          <p:cNvSpPr txBox="1"/>
          <p:nvPr/>
        </p:nvSpPr>
        <p:spPr>
          <a:xfrm>
            <a:off x="9429775" y="4291250"/>
            <a:ext cx="198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심각한 병목 발생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6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44" name="Google Shape;544;p26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545" name="Google Shape;545;p26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6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" name="Google Shape;547;p2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6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41891" y="1430219"/>
            <a:ext cx="10526224" cy="923400"/>
            <a:chOff x="541891" y="1430219"/>
            <a:chExt cx="10526224" cy="923400"/>
          </a:xfrm>
        </p:grpSpPr>
        <p:sp>
          <p:nvSpPr>
            <p:cNvPr id="550" name="Google Shape;550;p26"/>
            <p:cNvSpPr txBox="1"/>
            <p:nvPr/>
          </p:nvSpPr>
          <p:spPr>
            <a:xfrm>
              <a:off x="743615" y="1430219"/>
              <a:ext cx="10324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ONNX 최적화 - </a:t>
              </a:r>
              <a:r>
                <a:rPr b="1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제한된 환경에서 최대의 성능을 위해 모델 경량화를 진행</a:t>
              </a:r>
              <a:endParaRPr b="1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52" name="Google Shape;552;p2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888" y="2215163"/>
            <a:ext cx="667702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82950" y="3429000"/>
            <a:ext cx="19812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3749" y="4881300"/>
            <a:ext cx="1219600" cy="3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6"/>
          <p:cNvSpPr/>
          <p:nvPr/>
        </p:nvSpPr>
        <p:spPr>
          <a:xfrm>
            <a:off x="5451150" y="4237600"/>
            <a:ext cx="1464000" cy="46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57" name="Google Shape;55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7800" y="3346213"/>
            <a:ext cx="19621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91700" y="4748818"/>
            <a:ext cx="1174000" cy="33543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6"/>
          <p:cNvSpPr txBox="1"/>
          <p:nvPr/>
        </p:nvSpPr>
        <p:spPr>
          <a:xfrm>
            <a:off x="1162938" y="5725025"/>
            <a:ext cx="37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1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유연하지만 연산 최적화가 덜 된 모델 구조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1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학습(Training)에 최적화됨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7969275" y="5600700"/>
            <a:ext cx="371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1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모델의 연산 그래프 표준화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1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연산 병합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7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67" name="Google Shape;567;p27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568" name="Google Shape;568;p27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7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2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7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2" name="Google Shape;572;p27"/>
          <p:cNvGrpSpPr/>
          <p:nvPr/>
        </p:nvGrpSpPr>
        <p:grpSpPr>
          <a:xfrm>
            <a:off x="541891" y="1430219"/>
            <a:ext cx="10526224" cy="923400"/>
            <a:chOff x="541891" y="1430219"/>
            <a:chExt cx="10526224" cy="923400"/>
          </a:xfrm>
        </p:grpSpPr>
        <p:sp>
          <p:nvSpPr>
            <p:cNvPr id="573" name="Google Shape;573;p27"/>
            <p:cNvSpPr txBox="1"/>
            <p:nvPr/>
          </p:nvSpPr>
          <p:spPr>
            <a:xfrm>
              <a:off x="743615" y="1430219"/>
              <a:ext cx="10324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 데이터 최적화 - 해상도 및 FPS 조절을 통한 연산 부하 경감</a:t>
              </a:r>
              <a:endParaRPr b="1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75" name="Google Shape;575;p27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6" name="Google Shape;576;p27"/>
          <p:cNvGraphicFramePr/>
          <p:nvPr/>
        </p:nvGraphicFramePr>
        <p:xfrm>
          <a:off x="805808" y="26192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{F612A400-85F5-4BE6-8396-EB84EEEC0291}</a:tableStyleId>
              </a:tblPr>
              <a:tblGrid>
                <a:gridCol w="1691650"/>
                <a:gridCol w="1691650"/>
                <a:gridCol w="1692350"/>
              </a:tblGrid>
              <a:tr h="5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원본 영상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변환 영상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해상도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1920 * 1080 (FHD)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960 * 540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FPS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29.97 FPS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20FPS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초당 프레임 수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약 30장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20장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재생시간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동일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동일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YOLO처리 부담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높음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ko-K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상대적으로 낮음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7" name="Google Shape;57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5825" y="4412063"/>
            <a:ext cx="52959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7"/>
          <p:cNvSpPr txBox="1"/>
          <p:nvPr/>
        </p:nvSpPr>
        <p:spPr>
          <a:xfrm>
            <a:off x="6567225" y="2536650"/>
            <a:ext cx="5033100" cy="18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고해상도 (FHD) 대비 연산 부하 경감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구동이 가능한 최소한의 FPS 확보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데이터를 카메라로 받아도 해상도와 FPS 조절 가능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8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5" name="Google Shape;585;p28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586" name="Google Shape;586;p28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p2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0" name="Google Shape;590;p28"/>
          <p:cNvGrpSpPr/>
          <p:nvPr/>
        </p:nvGrpSpPr>
        <p:grpSpPr>
          <a:xfrm>
            <a:off x="541891" y="1430219"/>
            <a:ext cx="10526224" cy="646500"/>
            <a:chOff x="541891" y="1430219"/>
            <a:chExt cx="10526224" cy="646500"/>
          </a:xfrm>
        </p:grpSpPr>
        <p:sp>
          <p:nvSpPr>
            <p:cNvPr id="591" name="Google Shape;591;p28"/>
            <p:cNvSpPr txBox="1"/>
            <p:nvPr/>
          </p:nvSpPr>
          <p:spPr>
            <a:xfrm>
              <a:off x="743615" y="1430219"/>
              <a:ext cx="1032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2차 온디바이스 구동</a:t>
              </a:r>
              <a:endParaRPr b="1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93" name="Google Shape;593;p28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28" title="ondevice_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957" y="2342405"/>
            <a:ext cx="6798539" cy="383736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8"/>
          <p:cNvSpPr txBox="1"/>
          <p:nvPr/>
        </p:nvSpPr>
        <p:spPr>
          <a:xfrm>
            <a:off x="9209675" y="3675050"/>
            <a:ext cx="153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2.84</a:t>
            </a:r>
            <a:endParaRPr b="0" i="0" sz="40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96" name="Google Shape;596;p28"/>
          <p:cNvSpPr txBox="1"/>
          <p:nvPr/>
        </p:nvSpPr>
        <p:spPr>
          <a:xfrm>
            <a:off x="8833825" y="4365913"/>
            <a:ext cx="198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122% 성능향상</a:t>
            </a:r>
            <a:endParaRPr b="1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9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3" name="Google Shape;603;p29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604" name="Google Shape;604;p29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9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2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9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29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609" name="Google Shape;609;p29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아키텍쳐 업그레이드 (v5 -&gt; v26)</a:t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11" name="Google Shape;611;p2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29" title="123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2520" y="2632705"/>
            <a:ext cx="1000125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9"/>
          <p:cNvSpPr txBox="1"/>
          <p:nvPr/>
        </p:nvSpPr>
        <p:spPr>
          <a:xfrm>
            <a:off x="740625" y="4696125"/>
            <a:ext cx="103275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Conda 가상 환경을 통해 최신 Y</a:t>
            </a:r>
            <a:r>
              <a:rPr lang="ko-KR" sz="1800"/>
              <a:t>OLO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모델을 사용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추론은 ONNX Runtime, 즉 Pytorch의 모델을 ONNX로 구동시켜 v26의 효율적인 연산구조를 활용 가능.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0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0" name="Google Shape;620;p30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621" name="Google Shape;621;p30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0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" name="Google Shape;623;p3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0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p30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626" name="Google Shape;626;p30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아키텍쳐 업그레이드 (v5 -&gt; v26)</a:t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28" name="Google Shape;628;p3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30" title="fina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413" y="2065200"/>
            <a:ext cx="80010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0"/>
          <p:cNvSpPr txBox="1"/>
          <p:nvPr/>
        </p:nvSpPr>
        <p:spPr>
          <a:xfrm>
            <a:off x="9805600" y="2988700"/>
            <a:ext cx="153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3.47</a:t>
            </a:r>
            <a:endParaRPr b="0" i="0" sz="4000" u="none" cap="none" strike="noStrike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31" name="Google Shape;631;p30"/>
          <p:cNvSpPr txBox="1"/>
          <p:nvPr/>
        </p:nvSpPr>
        <p:spPr>
          <a:xfrm>
            <a:off x="9509950" y="3699638"/>
            <a:ext cx="198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-KR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148% 성능향상</a:t>
            </a:r>
            <a:endParaRPr b="1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1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38" name="Google Shape;638;p31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639" name="Google Shape;639;p31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1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1" name="Google Shape;641;p3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1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p31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644" name="Google Shape;644;p31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개선</a:t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5" name="Google Shape;645;p31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46" name="Google Shape;646;p3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100" y="2150413"/>
            <a:ext cx="5581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31"/>
          <p:cNvSpPr txBox="1"/>
          <p:nvPr/>
        </p:nvSpPr>
        <p:spPr>
          <a:xfrm>
            <a:off x="401050" y="2616875"/>
            <a:ext cx="11179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화면에 출력되는 정확도 값 conf 를 낮춰 탐지율을 높임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-&gt; 화면에 고정된 UI 까지 차량으로 인식하는 문제 발생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49" name="Google Shape;649;p31" title="미탐지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1126" y="2038225"/>
            <a:ext cx="3360924" cy="2010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752" y="4549674"/>
            <a:ext cx="9081528" cy="108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1"/>
          <p:cNvSpPr txBox="1"/>
          <p:nvPr/>
        </p:nvSpPr>
        <p:spPr>
          <a:xfrm>
            <a:off x="506400" y="3487075"/>
            <a:ext cx="11179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단순탐지 model.predict -&gt; 객체 추적 model.track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-&gt; 프레임 간의 연속성 부여 및 오탐지 감소 전략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2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58" name="Google Shape;658;p32"/>
          <p:cNvGrpSpPr/>
          <p:nvPr/>
        </p:nvGrpSpPr>
        <p:grpSpPr>
          <a:xfrm>
            <a:off x="376102" y="333243"/>
            <a:ext cx="5935074" cy="831300"/>
            <a:chOff x="376102" y="333243"/>
            <a:chExt cx="5935074" cy="831300"/>
          </a:xfrm>
        </p:grpSpPr>
        <p:sp>
          <p:nvSpPr>
            <p:cNvPr id="659" name="Google Shape;659;p32"/>
            <p:cNvSpPr txBox="1"/>
            <p:nvPr/>
          </p:nvSpPr>
          <p:spPr>
            <a:xfrm>
              <a:off x="1448176" y="484002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2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3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2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3" name="Google Shape;663;p32"/>
          <p:cNvGrpSpPr/>
          <p:nvPr/>
        </p:nvGrpSpPr>
        <p:grpSpPr>
          <a:xfrm>
            <a:off x="541891" y="1430219"/>
            <a:ext cx="10526224" cy="369300"/>
            <a:chOff x="541891" y="1430219"/>
            <a:chExt cx="10526224" cy="369300"/>
          </a:xfrm>
        </p:grpSpPr>
        <p:sp>
          <p:nvSpPr>
            <p:cNvPr id="664" name="Google Shape;664;p32"/>
            <p:cNvSpPr txBox="1"/>
            <p:nvPr/>
          </p:nvSpPr>
          <p:spPr>
            <a:xfrm>
              <a:off x="743615" y="1430219"/>
              <a:ext cx="10324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개선</a:t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66" name="Google Shape;666;p3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100" y="2065200"/>
            <a:ext cx="36576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32" title="mas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6100" y="2852600"/>
            <a:ext cx="6777850" cy="37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2"/>
          <p:cNvSpPr/>
          <p:nvPr/>
        </p:nvSpPr>
        <p:spPr>
          <a:xfrm>
            <a:off x="391025" y="2852600"/>
            <a:ext cx="6777900" cy="34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p32"/>
          <p:cNvSpPr/>
          <p:nvPr/>
        </p:nvSpPr>
        <p:spPr>
          <a:xfrm>
            <a:off x="376075" y="6206850"/>
            <a:ext cx="6777900" cy="4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p32"/>
          <p:cNvSpPr txBox="1"/>
          <p:nvPr/>
        </p:nvSpPr>
        <p:spPr>
          <a:xfrm>
            <a:off x="7523550" y="2267750"/>
            <a:ext cx="42009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영역 마스킹 : 화면 상/하단 고정 UI 영역을 마스킹 처리하여 오탐지 원천차단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소형 객체 탐지력 확보 : 임계값 (conf=0.2)를 통해 소형객체 탐지능력 향상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72" name="Google Shape;67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8825" y="4336149"/>
            <a:ext cx="4010325" cy="21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3"/>
          <p:cNvPicPr preferRelativeResize="0"/>
          <p:nvPr/>
        </p:nvPicPr>
        <p:blipFill rotWithShape="1">
          <a:blip r:embed="rId4">
            <a:alphaModFix/>
          </a:blip>
          <a:srcRect b="22185" l="1" r="2096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33"/>
          <p:cNvPicPr preferRelativeResize="0"/>
          <p:nvPr/>
        </p:nvPicPr>
        <p:blipFill rotWithShape="1">
          <a:blip r:embed="rId5">
            <a:alphaModFix/>
          </a:blip>
          <a:srcRect b="0" l="0" r="51763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1" name="Google Shape;681;p33"/>
          <p:cNvGrpSpPr/>
          <p:nvPr/>
        </p:nvGrpSpPr>
        <p:grpSpPr>
          <a:xfrm>
            <a:off x="376102" y="333243"/>
            <a:ext cx="6020113" cy="830997"/>
            <a:chOff x="376102" y="333243"/>
            <a:chExt cx="6020113" cy="830997"/>
          </a:xfrm>
        </p:grpSpPr>
        <p:sp>
          <p:nvSpPr>
            <p:cNvPr id="682" name="Google Shape;682;p33"/>
            <p:cNvSpPr txBox="1"/>
            <p:nvPr/>
          </p:nvSpPr>
          <p:spPr>
            <a:xfrm>
              <a:off x="1533336" y="487131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4" name="Google Shape;684;p33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5" name="Google Shape;685;p33"/>
          <p:cNvGrpSpPr/>
          <p:nvPr/>
        </p:nvGrpSpPr>
        <p:grpSpPr>
          <a:xfrm>
            <a:off x="541891" y="1430219"/>
            <a:ext cx="11108224" cy="369300"/>
            <a:chOff x="541891" y="1430219"/>
            <a:chExt cx="11108224" cy="369300"/>
          </a:xfrm>
        </p:grpSpPr>
        <p:sp>
          <p:nvSpPr>
            <p:cNvPr id="686" name="Google Shape;686;p33"/>
            <p:cNvSpPr txBox="1"/>
            <p:nvPr/>
          </p:nvSpPr>
          <p:spPr>
            <a:xfrm>
              <a:off x="743615" y="1430219"/>
              <a:ext cx="1090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 평가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88" name="Google Shape;688;p3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0" name="Google Shape;690;p33"/>
          <p:cNvGrpSpPr/>
          <p:nvPr/>
        </p:nvGrpSpPr>
        <p:grpSpPr>
          <a:xfrm>
            <a:off x="3501116" y="2418735"/>
            <a:ext cx="5363941" cy="1748490"/>
            <a:chOff x="541891" y="2408110"/>
            <a:chExt cx="5363941" cy="1748490"/>
          </a:xfrm>
        </p:grpSpPr>
        <p:sp>
          <p:nvSpPr>
            <p:cNvPr id="691" name="Google Shape;691;p33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3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2" name="Google Shape;692;p33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3" name="Google Shape;693;p33"/>
            <p:cNvSpPr txBox="1"/>
            <p:nvPr/>
          </p:nvSpPr>
          <p:spPr>
            <a:xfrm>
              <a:off x="758026" y="2900049"/>
              <a:ext cx="50520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94" name="Google Shape;69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3"/>
          <p:cNvSpPr txBox="1"/>
          <p:nvPr/>
        </p:nvSpPr>
        <p:spPr>
          <a:xfrm>
            <a:off x="1143000" y="4521875"/>
            <a:ext cx="10096500" cy="19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엣지 디바이스의 하드웨어 한계를 ONNX 최적화와 아키텍처 업그레이드로 극복하여 실시간 구동 </a:t>
            </a:r>
            <a:r>
              <a:rPr b="1" i="0" lang="ko-KR" sz="1400" u="none" cap="none" strike="noStrike">
                <a:solidFill>
                  <a:schemeClr val="accent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가능성</a:t>
            </a: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입증함.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스트리밍 환경 구축/ </a:t>
            </a: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드론의 제어와</a:t>
            </a: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같은 고도화 여지가 남아있음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모델의 학습 차원에서 적합한 도메인의 이미지 라벨링을 통해 정확도 향상의 여지가 남아있음.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33"/>
          <p:cNvSpPr txBox="1"/>
          <p:nvPr/>
        </p:nvSpPr>
        <p:spPr>
          <a:xfrm>
            <a:off x="5755100" y="3559350"/>
            <a:ext cx="1022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/10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34"/>
          <p:cNvPicPr preferRelativeResize="0"/>
          <p:nvPr/>
        </p:nvPicPr>
        <p:blipFill rotWithShape="1">
          <a:blip r:embed="rId4">
            <a:alphaModFix/>
          </a:blip>
          <a:srcRect b="22185" l="0" r="2095" t="0"/>
          <a:stretch/>
        </p:blipFill>
        <p:spPr>
          <a:xfrm rot="-5400000">
            <a:off x="10645616" y="3135340"/>
            <a:ext cx="2550876" cy="54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34"/>
          <p:cNvPicPr preferRelativeResize="0"/>
          <p:nvPr/>
        </p:nvPicPr>
        <p:blipFill rotWithShape="1">
          <a:blip r:embed="rId5">
            <a:alphaModFix/>
          </a:blip>
          <a:srcRect b="0" l="0" r="51763" t="5758"/>
          <a:stretch/>
        </p:blipFill>
        <p:spPr>
          <a:xfrm rot="10800000">
            <a:off x="-3" y="5284240"/>
            <a:ext cx="1369422" cy="1573759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34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05" name="Google Shape;705;p34"/>
          <p:cNvGrpSpPr/>
          <p:nvPr/>
        </p:nvGrpSpPr>
        <p:grpSpPr>
          <a:xfrm>
            <a:off x="376102" y="333243"/>
            <a:ext cx="6020234" cy="831300"/>
            <a:chOff x="376102" y="333243"/>
            <a:chExt cx="6020234" cy="831300"/>
          </a:xfrm>
        </p:grpSpPr>
        <p:sp>
          <p:nvSpPr>
            <p:cNvPr id="706" name="Google Shape;706;p34"/>
            <p:cNvSpPr txBox="1"/>
            <p:nvPr/>
          </p:nvSpPr>
          <p:spPr>
            <a:xfrm>
              <a:off x="1533336" y="487131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4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08" name="Google Shape;708;p3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9" name="Google Shape;709;p34"/>
          <p:cNvGrpSpPr/>
          <p:nvPr/>
        </p:nvGrpSpPr>
        <p:grpSpPr>
          <a:xfrm>
            <a:off x="541891" y="1430219"/>
            <a:ext cx="11108224" cy="369300"/>
            <a:chOff x="541891" y="1430219"/>
            <a:chExt cx="11108224" cy="369300"/>
          </a:xfrm>
        </p:grpSpPr>
        <p:sp>
          <p:nvSpPr>
            <p:cNvPr id="710" name="Google Shape;710;p34"/>
            <p:cNvSpPr txBox="1"/>
            <p:nvPr/>
          </p:nvSpPr>
          <p:spPr>
            <a:xfrm>
              <a:off x="743615" y="1430219"/>
              <a:ext cx="1090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12" name="Google Shape;712;p3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4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34"/>
          <p:cNvGrpSpPr/>
          <p:nvPr/>
        </p:nvGrpSpPr>
        <p:grpSpPr>
          <a:xfrm>
            <a:off x="3413990" y="2342410"/>
            <a:ext cx="5364000" cy="1748400"/>
            <a:chOff x="6396215" y="2408110"/>
            <a:chExt cx="5364000" cy="1748400"/>
          </a:xfrm>
        </p:grpSpPr>
        <p:sp>
          <p:nvSpPr>
            <p:cNvPr id="715" name="Google Shape;715;p34"/>
            <p:cNvSpPr/>
            <p:nvPr/>
          </p:nvSpPr>
          <p:spPr>
            <a:xfrm>
              <a:off x="6396215" y="2408110"/>
              <a:ext cx="5364000" cy="174840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6" name="Google Shape;716;p34"/>
            <p:cNvSpPr/>
            <p:nvPr/>
          </p:nvSpPr>
          <p:spPr>
            <a:xfrm rot="5400000">
              <a:off x="9031206" y="235065"/>
              <a:ext cx="93900" cy="4440000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7" name="Google Shape;717;p34"/>
            <p:cNvSpPr txBox="1"/>
            <p:nvPr/>
          </p:nvSpPr>
          <p:spPr>
            <a:xfrm>
              <a:off x="6636060" y="2900049"/>
              <a:ext cx="499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i="0" lang="ko-KR" sz="1800" u="none" cap="none" strike="noStrik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i="0" sz="1800" u="none" cap="none" strike="noStrike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18" name="Google Shape;71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2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4"/>
          <p:cNvSpPr txBox="1"/>
          <p:nvPr/>
        </p:nvSpPr>
        <p:spPr>
          <a:xfrm>
            <a:off x="1143000" y="4521875"/>
            <a:ext cx="10096500" cy="19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최적화로 인한 </a:t>
            </a:r>
            <a:r>
              <a:rPr b="1" lang="ko-KR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탐지율</a:t>
            </a: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저하 문제를 임계값(conf) 조정과 OpenCV 마스킹 후처리로 해결함 (</a:t>
            </a:r>
            <a:r>
              <a:rPr b="1" lang="ko-KR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노동민)</a:t>
            </a:r>
            <a:endParaRPr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 제약 속에서도 ONNX 변환 및 입력 제어를 통해 초기 대비 약 148%의 프레임 향상을 달성함 (이상욱)</a:t>
            </a:r>
            <a:endParaRPr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 에서 테스트하며 문제를 해결해 나간 과정이 의미있었음 (잠시드)</a:t>
            </a:r>
            <a:endParaRPr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C++기반의 임베디드 연산처리를 통해 상용화 수준의 경량화 파이프라인을 완성하고 싶음 (노동민)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드론과 연동하지 못한점, 최적화 방법을 더 다양하게 비교하지 못한점이 아쉬움 (이상욱)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환경에 맞는 자체 데이터셋을 만들고 학습시키지 못한점이 아쉬움 (잠시드)</a:t>
            </a:r>
            <a:endParaRPr b="1">
              <a:solidFill>
                <a:srgbClr val="CC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35"/>
          <p:cNvPicPr preferRelativeResize="0"/>
          <p:nvPr/>
        </p:nvPicPr>
        <p:blipFill rotWithShape="1">
          <a:blip r:embed="rId4">
            <a:alphaModFix/>
          </a:blip>
          <a:srcRect b="22185" l="0" r="2095" t="0"/>
          <a:stretch/>
        </p:blipFill>
        <p:spPr>
          <a:xfrm rot="-5400000">
            <a:off x="10645616" y="3135340"/>
            <a:ext cx="2550876" cy="54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35"/>
          <p:cNvPicPr preferRelativeResize="0"/>
          <p:nvPr/>
        </p:nvPicPr>
        <p:blipFill rotWithShape="1">
          <a:blip r:embed="rId5">
            <a:alphaModFix/>
          </a:blip>
          <a:srcRect b="0" l="0" r="51763" t="5758"/>
          <a:stretch/>
        </p:blipFill>
        <p:spPr>
          <a:xfrm rot="10800000">
            <a:off x="-3" y="5284240"/>
            <a:ext cx="1369422" cy="1573759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5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28" name="Google Shape;728;p35"/>
          <p:cNvGrpSpPr/>
          <p:nvPr/>
        </p:nvGrpSpPr>
        <p:grpSpPr>
          <a:xfrm>
            <a:off x="376102" y="333243"/>
            <a:ext cx="6020234" cy="831300"/>
            <a:chOff x="376102" y="333243"/>
            <a:chExt cx="6020234" cy="831300"/>
          </a:xfrm>
        </p:grpSpPr>
        <p:sp>
          <p:nvSpPr>
            <p:cNvPr id="729" name="Google Shape;729;p35"/>
            <p:cNvSpPr txBox="1"/>
            <p:nvPr/>
          </p:nvSpPr>
          <p:spPr>
            <a:xfrm>
              <a:off x="1533336" y="487131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5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1" name="Google Shape;731;p35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2" name="Google Shape;732;p35"/>
          <p:cNvGrpSpPr/>
          <p:nvPr/>
        </p:nvGrpSpPr>
        <p:grpSpPr>
          <a:xfrm>
            <a:off x="541891" y="1430219"/>
            <a:ext cx="11108224" cy="369300"/>
            <a:chOff x="541891" y="1430219"/>
            <a:chExt cx="11108224" cy="369300"/>
          </a:xfrm>
        </p:grpSpPr>
        <p:sp>
          <p:nvSpPr>
            <p:cNvPr id="733" name="Google Shape;733;p35"/>
            <p:cNvSpPr txBox="1"/>
            <p:nvPr/>
          </p:nvSpPr>
          <p:spPr>
            <a:xfrm>
              <a:off x="743615" y="1430219"/>
              <a:ext cx="1090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느낌 점이나 경험한 성과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541891" y="1539006"/>
              <a:ext cx="101298" cy="114040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35" name="Google Shape;735;p3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5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7" name="Google Shape;737;p35"/>
          <p:cNvGrpSpPr/>
          <p:nvPr/>
        </p:nvGrpSpPr>
        <p:grpSpPr>
          <a:xfrm>
            <a:off x="3501140" y="2342410"/>
            <a:ext cx="5364000" cy="1748400"/>
            <a:chOff x="6396215" y="4490910"/>
            <a:chExt cx="5364000" cy="1748400"/>
          </a:xfrm>
        </p:grpSpPr>
        <p:sp>
          <p:nvSpPr>
            <p:cNvPr id="738" name="Google Shape;738;p35"/>
            <p:cNvSpPr/>
            <p:nvPr/>
          </p:nvSpPr>
          <p:spPr>
            <a:xfrm>
              <a:off x="6396215" y="4490910"/>
              <a:ext cx="5364000" cy="174840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3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9" name="Google Shape;739;p35"/>
            <p:cNvSpPr/>
            <p:nvPr/>
          </p:nvSpPr>
          <p:spPr>
            <a:xfrm rot="5400000">
              <a:off x="9031206" y="2317860"/>
              <a:ext cx="93900" cy="444000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0" name="Google Shape;740;p35"/>
            <p:cNvSpPr txBox="1"/>
            <p:nvPr/>
          </p:nvSpPr>
          <p:spPr>
            <a:xfrm>
              <a:off x="6747148" y="5019135"/>
              <a:ext cx="46230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41" name="Google Shape;741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2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5"/>
          <p:cNvSpPr txBox="1"/>
          <p:nvPr/>
        </p:nvSpPr>
        <p:spPr>
          <a:xfrm>
            <a:off x="1143000" y="4521875"/>
            <a:ext cx="10096500" cy="19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정확도와 FPS의 문제와 같이 완벽을 쫓기보다 합리적인 타협점을 찾아내는 Trade-off를 다루는 감각을 얻었습니다. (노동민)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모델학습만에 파고드는것이 아니라 입력 데이터부터 하드웨어 환경 그리고 후처리까지 파이프라인의 전구간을 함께 진행하며 문제를 해결하는 과정이 유의미 했습니다. (이상욱)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Jetson 보드에서 테스트 해보면서 실제로 Edge AI를 경험해 볼 수 있어서 좋았어요. (잠시드)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36"/>
          <p:cNvPicPr preferRelativeResize="0"/>
          <p:nvPr/>
        </p:nvPicPr>
        <p:blipFill rotWithShape="1">
          <a:blip r:embed="rId3">
            <a:alphaModFix/>
          </a:blip>
          <a:srcRect b="11457" l="0" r="5069" t="0"/>
          <a:stretch/>
        </p:blipFill>
        <p:spPr>
          <a:xfrm>
            <a:off x="7589160" y="4695480"/>
            <a:ext cx="4602241" cy="216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" y="3758950"/>
            <a:ext cx="12191760" cy="23328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36"/>
          <p:cNvSpPr/>
          <p:nvPr/>
        </p:nvSpPr>
        <p:spPr>
          <a:xfrm>
            <a:off x="0" y="0"/>
            <a:ext cx="12191700" cy="1140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4706930" y="1854655"/>
            <a:ext cx="4862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ko-KR" sz="96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QnA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0" y="0"/>
            <a:ext cx="1336200" cy="1140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2" name="Google Shape;752;p36"/>
          <p:cNvPicPr preferRelativeResize="0"/>
          <p:nvPr/>
        </p:nvPicPr>
        <p:blipFill rotWithShape="1">
          <a:blip r:embed="rId5">
            <a:alphaModFix/>
          </a:blip>
          <a:srcRect b="17709" l="0" r="0" t="0"/>
          <a:stretch/>
        </p:blipFill>
        <p:spPr>
          <a:xfrm rot="5400000">
            <a:off x="-475920" y="2466720"/>
            <a:ext cx="1438200" cy="48528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36"/>
          <p:cNvSpPr txBox="1"/>
          <p:nvPr/>
        </p:nvSpPr>
        <p:spPr>
          <a:xfrm>
            <a:off x="516600" y="4145800"/>
            <a:ext cx="11094300" cy="2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[참고자료 및 자료출처]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6"/>
              </a:rPr>
              <a:t>https://www.yna.co.kr/view/AKR20250423131000009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1200">
                <a:solidFill>
                  <a:srgbClr val="11111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우크라전 전장서 '광섬유 드론' 공포 확산…전파 방해도 안통해 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[연합뉴스 /25.04.23]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7"/>
              </a:rPr>
              <a:t>https://docs.ultralytics.com/ko/datasets/detect/visdrone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VisDrone Dataset</a:t>
            </a: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